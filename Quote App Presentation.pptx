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heme/themeOverride4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1"/>
  </p:notesMasterIdLst>
  <p:sldIdLst>
    <p:sldId id="278" r:id="rId5"/>
    <p:sldId id="280" r:id="rId6"/>
    <p:sldId id="281" r:id="rId7"/>
    <p:sldId id="282" r:id="rId8"/>
    <p:sldId id="283" r:id="rId9"/>
    <p:sldId id="28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B12C"/>
    <a:srgbClr val="EB920F"/>
    <a:srgbClr val="9933FF"/>
    <a:srgbClr val="CC00FF"/>
    <a:srgbClr val="CC66FF"/>
    <a:srgbClr val="3F0065"/>
    <a:srgbClr val="F6A554"/>
    <a:srgbClr val="B88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1546-198A-4195-BCF8-F0FF54C90E5E}" type="datetimeFigureOut">
              <a:rPr lang="en-US" smtClean="0"/>
              <a:t>3/31/2025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E88F-1F85-4A27-9D34-D74A50E7B0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275C8-01E8-3E04-4AC2-6448BEB84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48C851-9822-E616-F027-ED2D5E6ED1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F21992-B46B-1653-8FB3-A576EFD994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AD0E88-32B9-F51A-1B63-343A321888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40435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2EDEA-5B45-E8BC-3F10-9EFE88B4B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99170F-2874-7CBB-8F71-F3C85FFCDD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E745CF-A618-EE3E-ED49-8BA2136982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A5384E-4F75-4D53-D105-C5627850C6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59421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7CB30-D48D-2932-A945-6A08EF6D7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18D9B2-4AFA-80FB-EBF7-332336C537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025C0D-C33E-DB46-926B-E07B33ADE1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B0397E-B3A8-D1D6-6526-D415E3B84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9059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EF9D3-36C5-1BEF-22FA-70DAB58FE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FC90B6-52D3-3911-6106-C5931B6EF5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DEE5F5-7D8D-12FC-BEA7-0D5AF965F4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E984CA-10CB-A6B8-CF58-714363F825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99910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3/31/2025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3/31/2025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3/31/2025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3/31/2025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3/31/2025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3/31/2025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3/31/2025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3/31/2025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3/31/2025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3/31/2025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3/31/2025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3/31/2025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3/31/2025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3/31/2025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3/31/2025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3/31/2025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78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3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6" Type="http://schemas.openxmlformats.org/officeDocument/2006/relationships/image" Target="../media/image3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4.xml"/><Relationship Id="rId5" Type="http://schemas.openxmlformats.org/officeDocument/2006/relationships/image" Target="../media/image8.jpg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 useBgFill="1">
        <p:nvSpPr>
          <p:cNvPr id="108" name="Freeform 5">
            <a:extLst>
              <a:ext uri="{FF2B5EF4-FFF2-40B4-BE49-F238E27FC236}">
                <a16:creationId xmlns:a16="http://schemas.microsoft.com/office/drawing/2014/main" id="{608EAA06-5488-416B-B2B2-E55213011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2271651" y="1762886"/>
            <a:ext cx="7656919" cy="3332229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0733" y="2074339"/>
            <a:ext cx="7219954" cy="1828801"/>
          </a:xfrm>
        </p:spPr>
        <p:txBody>
          <a:bodyPr>
            <a:normAutofit/>
          </a:bodyPr>
          <a:lstStyle/>
          <a:p>
            <a:r>
              <a:rPr lang="en-US" sz="4800"/>
              <a:t>Customer Quote Application with MySQL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0733" y="3903138"/>
            <a:ext cx="7219954" cy="104986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ECB12C"/>
                </a:solidFill>
              </a:rPr>
              <a:t>- Deana Briggs -</a:t>
            </a:r>
          </a:p>
        </p:txBody>
      </p:sp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84EA45-8BD6-05F2-A35A-E8A3A673D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D98318E6-69F4-42F4-AB85-F01AA0DAF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038168-3902-06F3-0D2C-3B52AC0EA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649" y="364144"/>
            <a:ext cx="7620351" cy="1505804"/>
          </a:xfrm>
        </p:spPr>
        <p:txBody>
          <a:bodyPr>
            <a:normAutofit/>
          </a:bodyPr>
          <a:lstStyle/>
          <a:p>
            <a:r>
              <a:rPr lang="en-US" sz="4800" dirty="0"/>
              <a:t>Add a Customer</a:t>
            </a:r>
            <a:r>
              <a:rPr lang="en-US" dirty="0"/>
              <a:t>	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CD5BDA-FD0B-790E-2E6E-D6BAFCBB06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51" r="19449"/>
          <a:stretch/>
        </p:blipFill>
        <p:spPr>
          <a:xfrm>
            <a:off x="-10649" y="1"/>
            <a:ext cx="4571649" cy="6858000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559DF61F-9058-49C9-8F75-DC501F983B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-10649" y="1"/>
            <a:ext cx="4690532" cy="6858000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B2481DE7-8BD8-73A6-D0B4-287246854E1B}"/>
              </a:ext>
            </a:extLst>
          </p:cNvPr>
          <p:cNvGrpSpPr/>
          <p:nvPr/>
        </p:nvGrpSpPr>
        <p:grpSpPr>
          <a:xfrm>
            <a:off x="5624908" y="2084024"/>
            <a:ext cx="5513832" cy="4427312"/>
            <a:chOff x="5467927" y="2066544"/>
            <a:chExt cx="5513832" cy="442731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46E394B-0BB0-AF46-F6FA-191EF10DBFAD}"/>
                </a:ext>
              </a:extLst>
            </p:cNvPr>
            <p:cNvSpPr/>
            <p:nvPr/>
          </p:nvSpPr>
          <p:spPr>
            <a:xfrm>
              <a:off x="5467927" y="2066544"/>
              <a:ext cx="5513832" cy="442731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EB649E9-CB3C-D0B6-3188-8E8CCFA10481}"/>
                </a:ext>
              </a:extLst>
            </p:cNvPr>
            <p:cNvSpPr/>
            <p:nvPr/>
          </p:nvSpPr>
          <p:spPr>
            <a:xfrm>
              <a:off x="7684180" y="2723280"/>
              <a:ext cx="1828800" cy="274320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100" dirty="0">
                  <a:solidFill>
                    <a:schemeClr val="tx1">
                      <a:lumMod val="8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First Name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0F7FC64-CDF8-4A89-BB70-0F836874F350}"/>
                </a:ext>
              </a:extLst>
            </p:cNvPr>
            <p:cNvSpPr/>
            <p:nvPr/>
          </p:nvSpPr>
          <p:spPr>
            <a:xfrm>
              <a:off x="7684180" y="3077281"/>
              <a:ext cx="1828800" cy="274320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100" dirty="0">
                  <a:solidFill>
                    <a:schemeClr val="tx1">
                      <a:lumMod val="8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Last Name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518497E-D205-9A84-4476-5085B0640A66}"/>
                </a:ext>
              </a:extLst>
            </p:cNvPr>
            <p:cNvSpPr/>
            <p:nvPr/>
          </p:nvSpPr>
          <p:spPr>
            <a:xfrm>
              <a:off x="7684180" y="3431282"/>
              <a:ext cx="1828800" cy="274320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100" dirty="0">
                  <a:solidFill>
                    <a:schemeClr val="tx1">
                      <a:lumMod val="8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Address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E42139C-445E-4BAF-49CF-A9E5DD852D15}"/>
                </a:ext>
              </a:extLst>
            </p:cNvPr>
            <p:cNvSpPr/>
            <p:nvPr/>
          </p:nvSpPr>
          <p:spPr>
            <a:xfrm>
              <a:off x="7686644" y="3785283"/>
              <a:ext cx="1828800" cy="274320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100" dirty="0">
                  <a:solidFill>
                    <a:schemeClr val="tx1">
                      <a:lumMod val="8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City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DCCFB1C-BE7E-3B76-7BA8-3C9743F05DED}"/>
                </a:ext>
              </a:extLst>
            </p:cNvPr>
            <p:cNvSpPr/>
            <p:nvPr/>
          </p:nvSpPr>
          <p:spPr>
            <a:xfrm>
              <a:off x="7684180" y="4139284"/>
              <a:ext cx="1828800" cy="274320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100" dirty="0">
                  <a:solidFill>
                    <a:schemeClr val="tx1">
                      <a:lumMod val="8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State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B9AFDA7-966B-A79A-0134-B2F86921DA47}"/>
                </a:ext>
              </a:extLst>
            </p:cNvPr>
            <p:cNvSpPr/>
            <p:nvPr/>
          </p:nvSpPr>
          <p:spPr>
            <a:xfrm>
              <a:off x="7684180" y="4495157"/>
              <a:ext cx="1828800" cy="274320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100" dirty="0">
                  <a:solidFill>
                    <a:schemeClr val="tx1">
                      <a:lumMod val="8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Zip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281B8EC-A72A-92CA-4FE4-D137E7CD2F7E}"/>
                </a:ext>
              </a:extLst>
            </p:cNvPr>
            <p:cNvSpPr/>
            <p:nvPr/>
          </p:nvSpPr>
          <p:spPr>
            <a:xfrm>
              <a:off x="7684180" y="4855103"/>
              <a:ext cx="1828800" cy="274320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100" dirty="0">
                  <a:solidFill>
                    <a:schemeClr val="tx1">
                      <a:lumMod val="8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Email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B417775-D3D5-B36E-E8F6-80916051B554}"/>
                </a:ext>
              </a:extLst>
            </p:cNvPr>
            <p:cNvSpPr/>
            <p:nvPr/>
          </p:nvSpPr>
          <p:spPr>
            <a:xfrm>
              <a:off x="7684180" y="5215049"/>
              <a:ext cx="1828800" cy="274320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100" dirty="0">
                  <a:solidFill>
                    <a:schemeClr val="tx1">
                      <a:lumMod val="8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Phone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F8213DD-89C9-02F3-371A-39356AA314C6}"/>
                </a:ext>
              </a:extLst>
            </p:cNvPr>
            <p:cNvSpPr/>
            <p:nvPr/>
          </p:nvSpPr>
          <p:spPr>
            <a:xfrm>
              <a:off x="7684180" y="5574995"/>
              <a:ext cx="1828800" cy="274320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100" dirty="0">
                  <a:solidFill>
                    <a:schemeClr val="tx1">
                      <a:lumMod val="8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Business (if applicable)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E0F9B54-9D90-CB0D-8A4A-7B62727AD3BE}"/>
                </a:ext>
              </a:extLst>
            </p:cNvPr>
            <p:cNvSpPr/>
            <p:nvPr/>
          </p:nvSpPr>
          <p:spPr>
            <a:xfrm>
              <a:off x="6703133" y="2726559"/>
              <a:ext cx="907627" cy="27432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First Name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6535A9F-5F71-3F30-52C9-8317BF689D8C}"/>
                </a:ext>
              </a:extLst>
            </p:cNvPr>
            <p:cNvSpPr/>
            <p:nvPr/>
          </p:nvSpPr>
          <p:spPr>
            <a:xfrm>
              <a:off x="6703133" y="3080560"/>
              <a:ext cx="907627" cy="27432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Last Name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AD99A2C-F5EB-7ECB-FB85-3D77889BA91A}"/>
                </a:ext>
              </a:extLst>
            </p:cNvPr>
            <p:cNvSpPr/>
            <p:nvPr/>
          </p:nvSpPr>
          <p:spPr>
            <a:xfrm>
              <a:off x="6703133" y="3434561"/>
              <a:ext cx="907627" cy="27432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Address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8FB95E5-6B32-C243-868E-2F5DF9DA2E56}"/>
                </a:ext>
              </a:extLst>
            </p:cNvPr>
            <p:cNvSpPr/>
            <p:nvPr/>
          </p:nvSpPr>
          <p:spPr>
            <a:xfrm>
              <a:off x="6705597" y="3788562"/>
              <a:ext cx="907627" cy="27432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City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F43C262-E343-9B1C-A771-EFF01358355F}"/>
                </a:ext>
              </a:extLst>
            </p:cNvPr>
            <p:cNvSpPr/>
            <p:nvPr/>
          </p:nvSpPr>
          <p:spPr>
            <a:xfrm>
              <a:off x="6703133" y="4142563"/>
              <a:ext cx="907627" cy="27432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State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4805D76-3C71-185A-0B38-B4F87AE6C510}"/>
                </a:ext>
              </a:extLst>
            </p:cNvPr>
            <p:cNvSpPr/>
            <p:nvPr/>
          </p:nvSpPr>
          <p:spPr>
            <a:xfrm>
              <a:off x="6703133" y="4498436"/>
              <a:ext cx="907627" cy="27432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Zip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203B41A-4415-F2B6-E91B-2AE84AD506BB}"/>
                </a:ext>
              </a:extLst>
            </p:cNvPr>
            <p:cNvSpPr/>
            <p:nvPr/>
          </p:nvSpPr>
          <p:spPr>
            <a:xfrm>
              <a:off x="6703133" y="4858382"/>
              <a:ext cx="907627" cy="27432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Email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6DEB63B-359B-A620-60E6-28834D3199E7}"/>
                </a:ext>
              </a:extLst>
            </p:cNvPr>
            <p:cNvSpPr/>
            <p:nvPr/>
          </p:nvSpPr>
          <p:spPr>
            <a:xfrm>
              <a:off x="6703133" y="5218328"/>
              <a:ext cx="907627" cy="27432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Phone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392E71B-D3B9-004F-AC28-923997163C9D}"/>
                </a:ext>
              </a:extLst>
            </p:cNvPr>
            <p:cNvSpPr/>
            <p:nvPr/>
          </p:nvSpPr>
          <p:spPr>
            <a:xfrm>
              <a:off x="6703133" y="5578274"/>
              <a:ext cx="907627" cy="27432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Business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58713C3-0EE6-464C-B629-F231C8C3A3DB}"/>
                </a:ext>
              </a:extLst>
            </p:cNvPr>
            <p:cNvSpPr/>
            <p:nvPr/>
          </p:nvSpPr>
          <p:spPr>
            <a:xfrm>
              <a:off x="5541817" y="2263043"/>
              <a:ext cx="5366327" cy="30921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Enter Customer Information</a:t>
              </a: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DC247DF5-DB83-3B9C-A979-DA1C2F674FF1}"/>
                </a:ext>
              </a:extLst>
            </p:cNvPr>
            <p:cNvSpPr/>
            <p:nvPr/>
          </p:nvSpPr>
          <p:spPr>
            <a:xfrm>
              <a:off x="7412043" y="6015338"/>
              <a:ext cx="1625600" cy="309215"/>
            </a:xfrm>
            <a:prstGeom prst="round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Add Customer</a:t>
              </a:r>
            </a:p>
          </p:txBody>
        </p:sp>
      </p:grpSp>
      <p:sp>
        <p:nvSpPr>
          <p:cNvPr id="33" name="Callout: Bent Line 32">
            <a:extLst>
              <a:ext uri="{FF2B5EF4-FFF2-40B4-BE49-F238E27FC236}">
                <a16:creationId xmlns:a16="http://schemas.microsoft.com/office/drawing/2014/main" id="{C95A357D-E7D3-6E3D-355F-936F5544E641}"/>
              </a:ext>
            </a:extLst>
          </p:cNvPr>
          <p:cNvSpPr/>
          <p:nvPr/>
        </p:nvSpPr>
        <p:spPr>
          <a:xfrm>
            <a:off x="694945" y="1684386"/>
            <a:ext cx="2982008" cy="1973213"/>
          </a:xfrm>
          <a:prstGeom prst="borderCallout2">
            <a:avLst>
              <a:gd name="adj1" fmla="val 24813"/>
              <a:gd name="adj2" fmla="val 103285"/>
              <a:gd name="adj3" fmla="val 24813"/>
              <a:gd name="adj4" fmla="val 112182"/>
              <a:gd name="adj5" fmla="val 69666"/>
              <a:gd name="adj6" fmla="val 147011"/>
            </a:avLst>
          </a:prstGeom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1:</a:t>
            </a:r>
          </a:p>
          <a:p>
            <a:pPr algn="ctr"/>
            <a:r>
              <a:rPr lang="en-US" dirty="0"/>
              <a:t>Insert the entered information into “customer” and “address” tables unless they exist and start a “new project”</a:t>
            </a:r>
          </a:p>
        </p:txBody>
      </p:sp>
    </p:spTree>
    <p:extLst>
      <p:ext uri="{BB962C8B-B14F-4D97-AF65-F5344CB8AC3E}">
        <p14:creationId xmlns:p14="http://schemas.microsoft.com/office/powerpoint/2010/main" val="3926331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814A4-758C-3215-38E9-CDCB20793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C568A-78BB-857D-1678-F3BF0621B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649" y="364144"/>
            <a:ext cx="7620351" cy="1505804"/>
          </a:xfrm>
        </p:spPr>
        <p:txBody>
          <a:bodyPr>
            <a:normAutofit/>
          </a:bodyPr>
          <a:lstStyle/>
          <a:p>
            <a:r>
              <a:rPr lang="en-US" sz="4800" dirty="0"/>
              <a:t>Build a Quote </a:t>
            </a:r>
            <a:r>
              <a:rPr lang="en-US" dirty="0"/>
              <a:t>	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E4251C-53E2-8655-5D34-7C9A6B82FD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51" r="19449"/>
          <a:stretch/>
        </p:blipFill>
        <p:spPr>
          <a:xfrm>
            <a:off x="-10649" y="1"/>
            <a:ext cx="4571649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8C8B5EA-1DB5-1DB4-A5F0-F7DFEBCD04A0}"/>
              </a:ext>
            </a:extLst>
          </p:cNvPr>
          <p:cNvSpPr/>
          <p:nvPr/>
        </p:nvSpPr>
        <p:spPr>
          <a:xfrm>
            <a:off x="5624908" y="2064658"/>
            <a:ext cx="5513832" cy="44273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BBABFC-CB47-B62D-7A8F-060CB27B8E83}"/>
              </a:ext>
            </a:extLst>
          </p:cNvPr>
          <p:cNvSpPr/>
          <p:nvPr/>
        </p:nvSpPr>
        <p:spPr>
          <a:xfrm>
            <a:off x="7530265" y="2723280"/>
            <a:ext cx="2124874" cy="27432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John Smith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EE33835-A9DB-A06E-5749-6994B8039BA0}"/>
              </a:ext>
            </a:extLst>
          </p:cNvPr>
          <p:cNvSpPr/>
          <p:nvPr/>
        </p:nvSpPr>
        <p:spPr>
          <a:xfrm>
            <a:off x="8858639" y="2783762"/>
            <a:ext cx="736378" cy="182861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ID: 1111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FC537E-3102-C7E7-6F18-35B1E2EBBA78}"/>
              </a:ext>
            </a:extLst>
          </p:cNvPr>
          <p:cNvSpPr/>
          <p:nvPr/>
        </p:nvSpPr>
        <p:spPr>
          <a:xfrm>
            <a:off x="7530264" y="3077281"/>
            <a:ext cx="2124875" cy="2743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tx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HIK 4 Camera System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1402A8-B4D6-6176-2D3E-22C2875D12BD}"/>
              </a:ext>
            </a:extLst>
          </p:cNvPr>
          <p:cNvSpPr/>
          <p:nvPr/>
        </p:nvSpPr>
        <p:spPr>
          <a:xfrm>
            <a:off x="6320522" y="2726559"/>
            <a:ext cx="1136323" cy="274320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Customer: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F6FBF2-C857-4E61-560F-C72EBDAB9975}"/>
              </a:ext>
            </a:extLst>
          </p:cNvPr>
          <p:cNvSpPr/>
          <p:nvPr/>
        </p:nvSpPr>
        <p:spPr>
          <a:xfrm>
            <a:off x="6475500" y="3080560"/>
            <a:ext cx="981346" cy="274320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Option Title: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059BA51-8442-11F1-B4A3-FE39A011FC42}"/>
              </a:ext>
            </a:extLst>
          </p:cNvPr>
          <p:cNvSpPr/>
          <p:nvPr/>
        </p:nvSpPr>
        <p:spPr>
          <a:xfrm>
            <a:off x="5698798" y="2263043"/>
            <a:ext cx="5366327" cy="309215"/>
          </a:xfrm>
          <a:prstGeom prst="rect">
            <a:avLst/>
          </a:prstGeom>
          <a:solidFill>
            <a:schemeClr val="tx1">
              <a:lumMod val="85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 Quote Options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564CEEE-7300-0FAB-DA30-928AEAA5CB81}"/>
              </a:ext>
            </a:extLst>
          </p:cNvPr>
          <p:cNvSpPr/>
          <p:nvPr/>
        </p:nvSpPr>
        <p:spPr>
          <a:xfrm>
            <a:off x="7755913" y="6049200"/>
            <a:ext cx="1644072" cy="309215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Calculate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7411B2E-359A-EC57-F0BA-29A458A6ACFD}"/>
              </a:ext>
            </a:extLst>
          </p:cNvPr>
          <p:cNvSpPr/>
          <p:nvPr/>
        </p:nvSpPr>
        <p:spPr>
          <a:xfrm>
            <a:off x="7835227" y="3918990"/>
            <a:ext cx="2124876" cy="274320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Product: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FF8DCD9-6139-2B23-67F9-4011F9F713E9}"/>
              </a:ext>
            </a:extLst>
          </p:cNvPr>
          <p:cNvSpPr/>
          <p:nvPr/>
        </p:nvSpPr>
        <p:spPr>
          <a:xfrm>
            <a:off x="7534749" y="3430545"/>
            <a:ext cx="2124875" cy="2743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tx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HIK / AXIS / ADC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3BC4CD-ABEA-6CAE-C989-697423F3938A}"/>
              </a:ext>
            </a:extLst>
          </p:cNvPr>
          <p:cNvSpPr/>
          <p:nvPr/>
        </p:nvSpPr>
        <p:spPr>
          <a:xfrm>
            <a:off x="7909053" y="4193310"/>
            <a:ext cx="1388498" cy="2743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tx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2C84F6A-790B-2D53-8AEB-881AED3ACC46}"/>
              </a:ext>
            </a:extLst>
          </p:cNvPr>
          <p:cNvSpPr/>
          <p:nvPr/>
        </p:nvSpPr>
        <p:spPr>
          <a:xfrm>
            <a:off x="6766560" y="3433824"/>
            <a:ext cx="694771" cy="274320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Brand: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EA54FFA-43C6-8B0F-A45E-25BDFAED2BBE}"/>
              </a:ext>
            </a:extLst>
          </p:cNvPr>
          <p:cNvSpPr/>
          <p:nvPr/>
        </p:nvSpPr>
        <p:spPr>
          <a:xfrm>
            <a:off x="6717752" y="3906323"/>
            <a:ext cx="1038161" cy="274320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Category: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1E5CB15-A0D6-41A3-7016-D9C72CBF0761}"/>
              </a:ext>
            </a:extLst>
          </p:cNvPr>
          <p:cNvGrpSpPr/>
          <p:nvPr/>
        </p:nvGrpSpPr>
        <p:grpSpPr>
          <a:xfrm>
            <a:off x="6815912" y="4197788"/>
            <a:ext cx="940001" cy="274320"/>
            <a:chOff x="6996484" y="4175849"/>
            <a:chExt cx="940001" cy="27432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60AB2014-E6A3-A0C8-90D7-31EA1308CA00}"/>
                </a:ext>
              </a:extLst>
            </p:cNvPr>
            <p:cNvSpPr/>
            <p:nvPr/>
          </p:nvSpPr>
          <p:spPr>
            <a:xfrm>
              <a:off x="6996484" y="4175849"/>
              <a:ext cx="940001" cy="274320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100" dirty="0">
                  <a:solidFill>
                    <a:schemeClr val="tx1">
                      <a:lumMod val="8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Camera</a:t>
              </a:r>
            </a:p>
          </p:txBody>
        </p:sp>
        <p:sp>
          <p:nvSpPr>
            <p:cNvPr id="38" name="Isosceles Triangle 37">
              <a:extLst>
                <a:ext uri="{FF2B5EF4-FFF2-40B4-BE49-F238E27FC236}">
                  <a16:creationId xmlns:a16="http://schemas.microsoft.com/office/drawing/2014/main" id="{2E144880-5D7D-8A4C-0133-E07C4DF09EF9}"/>
                </a:ext>
              </a:extLst>
            </p:cNvPr>
            <p:cNvSpPr/>
            <p:nvPr/>
          </p:nvSpPr>
          <p:spPr>
            <a:xfrm rot="10800000">
              <a:off x="7726091" y="4271841"/>
              <a:ext cx="166254" cy="137160"/>
            </a:xfrm>
            <a:prstGeom prst="triangle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A19AB370-DC37-6673-1A02-7EBDAFAB246F}"/>
              </a:ext>
            </a:extLst>
          </p:cNvPr>
          <p:cNvSpPr/>
          <p:nvPr/>
        </p:nvSpPr>
        <p:spPr>
          <a:xfrm>
            <a:off x="9428332" y="4193125"/>
            <a:ext cx="605597" cy="2743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127C54D-F79C-41ED-DF43-0F3BBC22CC44}"/>
              </a:ext>
            </a:extLst>
          </p:cNvPr>
          <p:cNvSpPr/>
          <p:nvPr/>
        </p:nvSpPr>
        <p:spPr>
          <a:xfrm>
            <a:off x="9367157" y="3912594"/>
            <a:ext cx="860461" cy="274320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Quantity:</a:t>
            </a:r>
          </a:p>
        </p:txBody>
      </p:sp>
      <p:sp>
        <p:nvSpPr>
          <p:cNvPr id="42" name="Plus Sign 41">
            <a:extLst>
              <a:ext uri="{FF2B5EF4-FFF2-40B4-BE49-F238E27FC236}">
                <a16:creationId xmlns:a16="http://schemas.microsoft.com/office/drawing/2014/main" id="{705163B9-9879-4AC5-0899-FEB559469C13}"/>
              </a:ext>
            </a:extLst>
          </p:cNvPr>
          <p:cNvSpPr/>
          <p:nvPr/>
        </p:nvSpPr>
        <p:spPr>
          <a:xfrm>
            <a:off x="10123704" y="4219994"/>
            <a:ext cx="182880" cy="175369"/>
          </a:xfrm>
          <a:prstGeom prst="mathPlus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CC01548-F10E-F40F-0A30-6C207C8D7EAB}"/>
              </a:ext>
            </a:extLst>
          </p:cNvPr>
          <p:cNvSpPr/>
          <p:nvPr/>
        </p:nvSpPr>
        <p:spPr>
          <a:xfrm>
            <a:off x="6869932" y="4477427"/>
            <a:ext cx="885982" cy="78102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Camera</a:t>
            </a:r>
          </a:p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Recorder</a:t>
            </a:r>
          </a:p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Hard Drive</a:t>
            </a:r>
          </a:p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Accessory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54A6ADD-7937-58DF-F27B-6DECCD0E5D2E}"/>
              </a:ext>
            </a:extLst>
          </p:cNvPr>
          <p:cNvSpPr/>
          <p:nvPr/>
        </p:nvSpPr>
        <p:spPr>
          <a:xfrm>
            <a:off x="7969176" y="4473841"/>
            <a:ext cx="1328375" cy="126717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4MP Turret</a:t>
            </a:r>
          </a:p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8MP Panoramic</a:t>
            </a:r>
          </a:p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Doorbell</a:t>
            </a:r>
          </a:p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Mini-Dome</a:t>
            </a:r>
          </a:p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PTZ 4x</a:t>
            </a:r>
          </a:p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PTZ 16x</a:t>
            </a:r>
          </a:p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LPR</a:t>
            </a:r>
          </a:p>
          <a:p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1C5EE8EE-43C0-557E-3CD0-6A39EB1CF8C3}"/>
              </a:ext>
            </a:extLst>
          </p:cNvPr>
          <p:cNvSpPr/>
          <p:nvPr/>
        </p:nvSpPr>
        <p:spPr>
          <a:xfrm rot="10800000">
            <a:off x="9105666" y="4292007"/>
            <a:ext cx="166254" cy="137160"/>
          </a:xfrm>
          <a:prstGeom prst="triangl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C0CC382-C2BB-5368-6FEC-02AABE042D48}"/>
              </a:ext>
            </a:extLst>
          </p:cNvPr>
          <p:cNvSpPr/>
          <p:nvPr/>
        </p:nvSpPr>
        <p:spPr>
          <a:xfrm>
            <a:off x="6647688" y="3893279"/>
            <a:ext cx="3743221" cy="2013745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Isosceles Triangle 51">
            <a:extLst>
              <a:ext uri="{FF2B5EF4-FFF2-40B4-BE49-F238E27FC236}">
                <a16:creationId xmlns:a16="http://schemas.microsoft.com/office/drawing/2014/main" id="{7C34C670-15C9-8AA3-7D54-76E9F08A7AA3}"/>
              </a:ext>
            </a:extLst>
          </p:cNvPr>
          <p:cNvSpPr/>
          <p:nvPr/>
        </p:nvSpPr>
        <p:spPr>
          <a:xfrm rot="10800000">
            <a:off x="9470413" y="3502360"/>
            <a:ext cx="166254" cy="137160"/>
          </a:xfrm>
          <a:prstGeom prst="triangl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Callout: Bent Line 57">
            <a:extLst>
              <a:ext uri="{FF2B5EF4-FFF2-40B4-BE49-F238E27FC236}">
                <a16:creationId xmlns:a16="http://schemas.microsoft.com/office/drawing/2014/main" id="{801ADD1F-7935-B958-1697-A7E66FCCABFA}"/>
              </a:ext>
            </a:extLst>
          </p:cNvPr>
          <p:cNvSpPr/>
          <p:nvPr/>
        </p:nvSpPr>
        <p:spPr>
          <a:xfrm>
            <a:off x="873397" y="575796"/>
            <a:ext cx="2803555" cy="1759282"/>
          </a:xfrm>
          <a:prstGeom prst="borderCallout2">
            <a:avLst>
              <a:gd name="adj1" fmla="val 27070"/>
              <a:gd name="adj2" fmla="val 102959"/>
              <a:gd name="adj3" fmla="val 27589"/>
              <a:gd name="adj4" fmla="val 112182"/>
              <a:gd name="adj5" fmla="val 66643"/>
              <a:gd name="adj6" fmla="val 147991"/>
            </a:avLst>
          </a:prstGeom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2:</a:t>
            </a:r>
          </a:p>
          <a:p>
            <a:pPr algn="ctr"/>
            <a:r>
              <a:rPr lang="en-US" dirty="0"/>
              <a:t>Provide a filtered list of products based on “Brand” and “Category”</a:t>
            </a:r>
          </a:p>
        </p:txBody>
      </p:sp>
      <p:sp>
        <p:nvSpPr>
          <p:cNvPr id="59" name="Callout: Bent Line 58">
            <a:extLst>
              <a:ext uri="{FF2B5EF4-FFF2-40B4-BE49-F238E27FC236}">
                <a16:creationId xmlns:a16="http://schemas.microsoft.com/office/drawing/2014/main" id="{11E3D13D-1A8C-3AA0-C5D8-09A20E5C310A}"/>
              </a:ext>
            </a:extLst>
          </p:cNvPr>
          <p:cNvSpPr/>
          <p:nvPr/>
        </p:nvSpPr>
        <p:spPr>
          <a:xfrm>
            <a:off x="881971" y="2790985"/>
            <a:ext cx="2803555" cy="1501486"/>
          </a:xfrm>
          <a:prstGeom prst="borderCallout2">
            <a:avLst>
              <a:gd name="adj1" fmla="val 30903"/>
              <a:gd name="adj2" fmla="val 102959"/>
              <a:gd name="adj3" fmla="val 30903"/>
              <a:gd name="adj4" fmla="val 112834"/>
              <a:gd name="adj5" fmla="val 75755"/>
              <a:gd name="adj6" fmla="val 146685"/>
            </a:avLst>
          </a:prstGeom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3:</a:t>
            </a:r>
          </a:p>
          <a:p>
            <a:pPr algn="ctr"/>
            <a:r>
              <a:rPr lang="en-US" dirty="0"/>
              <a:t>Store selected products with quantity in a temporary table</a:t>
            </a:r>
          </a:p>
        </p:txBody>
      </p:sp>
      <p:sp>
        <p:nvSpPr>
          <p:cNvPr id="60" name="Callout: Bent Line 59">
            <a:extLst>
              <a:ext uri="{FF2B5EF4-FFF2-40B4-BE49-F238E27FC236}">
                <a16:creationId xmlns:a16="http://schemas.microsoft.com/office/drawing/2014/main" id="{64A96561-F90C-9FFB-3DAC-9E231690E867}"/>
              </a:ext>
            </a:extLst>
          </p:cNvPr>
          <p:cNvSpPr/>
          <p:nvPr/>
        </p:nvSpPr>
        <p:spPr>
          <a:xfrm>
            <a:off x="881971" y="4748378"/>
            <a:ext cx="2803555" cy="1501486"/>
          </a:xfrm>
          <a:prstGeom prst="borderCallout2">
            <a:avLst>
              <a:gd name="adj1" fmla="val 12633"/>
              <a:gd name="adj2" fmla="val 102959"/>
              <a:gd name="adj3" fmla="val 12633"/>
              <a:gd name="adj4" fmla="val 114139"/>
              <a:gd name="adj5" fmla="val 55658"/>
              <a:gd name="adj6" fmla="val 145706"/>
            </a:avLst>
          </a:prstGeom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4:</a:t>
            </a:r>
          </a:p>
          <a:p>
            <a:pPr algn="ctr"/>
            <a:r>
              <a:rPr lang="en-US" dirty="0"/>
              <a:t>After products are selected create the quote and store selected products</a:t>
            </a:r>
          </a:p>
        </p:txBody>
      </p:sp>
    </p:spTree>
    <p:extLst>
      <p:ext uri="{BB962C8B-B14F-4D97-AF65-F5344CB8AC3E}">
        <p14:creationId xmlns:p14="http://schemas.microsoft.com/office/powerpoint/2010/main" val="590379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7BDB42-B7A0-C412-243B-1BAC25637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843E27BA-A4C5-6979-8A55-B749141348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35B44B-3A20-96A6-DF23-B76D6E4B2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649" y="364144"/>
            <a:ext cx="7620351" cy="1505804"/>
          </a:xfrm>
        </p:spPr>
        <p:txBody>
          <a:bodyPr>
            <a:normAutofit/>
          </a:bodyPr>
          <a:lstStyle/>
          <a:p>
            <a:r>
              <a:rPr lang="en-US" dirty="0"/>
              <a:t>Calculate Quote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FFA4E5-E13F-995A-5D5C-F538943D8D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51" r="19449"/>
          <a:stretch/>
        </p:blipFill>
        <p:spPr>
          <a:xfrm>
            <a:off x="-10649" y="1"/>
            <a:ext cx="4571649" cy="6858000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9BEA9147-FF9C-210E-E443-ACEDA40FC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-10649" y="1"/>
            <a:ext cx="4690532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DCC627D-63B8-9A99-DE77-466129E0D192}"/>
              </a:ext>
            </a:extLst>
          </p:cNvPr>
          <p:cNvSpPr/>
          <p:nvPr/>
        </p:nvSpPr>
        <p:spPr>
          <a:xfrm>
            <a:off x="4788878" y="2057430"/>
            <a:ext cx="7185891" cy="45006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5DDC5A3-28D3-D468-1598-655C8BB4E48A}"/>
              </a:ext>
            </a:extLst>
          </p:cNvPr>
          <p:cNvSpPr/>
          <p:nvPr/>
        </p:nvSpPr>
        <p:spPr>
          <a:xfrm>
            <a:off x="4867564" y="2280523"/>
            <a:ext cx="7010400" cy="309215"/>
          </a:xfrm>
          <a:prstGeom prst="rect">
            <a:avLst/>
          </a:prstGeom>
          <a:solidFill>
            <a:schemeClr val="tx1">
              <a:lumMod val="85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Review and Approve</a:t>
            </a:r>
          </a:p>
        </p:txBody>
      </p: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918632CF-EB61-6340-E523-F47F5A392EAC}"/>
              </a:ext>
            </a:extLst>
          </p:cNvPr>
          <p:cNvGrpSpPr/>
          <p:nvPr/>
        </p:nvGrpSpPr>
        <p:grpSpPr>
          <a:xfrm>
            <a:off x="9687406" y="3357035"/>
            <a:ext cx="2152073" cy="2471112"/>
            <a:chOff x="9715114" y="3569471"/>
            <a:chExt cx="2152073" cy="2471112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8C79D985-1420-23FA-68C8-B587049BEF1C}"/>
                </a:ext>
              </a:extLst>
            </p:cNvPr>
            <p:cNvSpPr/>
            <p:nvPr/>
          </p:nvSpPr>
          <p:spPr>
            <a:xfrm>
              <a:off x="11005632" y="5598663"/>
              <a:ext cx="786284" cy="283637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Accept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C4549ED-F830-EAF4-FB00-467EEE1B3C01}"/>
                </a:ext>
              </a:extLst>
            </p:cNvPr>
            <p:cNvSpPr/>
            <p:nvPr/>
          </p:nvSpPr>
          <p:spPr>
            <a:xfrm>
              <a:off x="9809276" y="4592623"/>
              <a:ext cx="1327627" cy="27432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Estimated Hours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78FB5686-518B-77EC-5375-80D6C18A2288}"/>
                </a:ext>
              </a:extLst>
            </p:cNvPr>
            <p:cNvSpPr/>
            <p:nvPr/>
          </p:nvSpPr>
          <p:spPr>
            <a:xfrm>
              <a:off x="11091262" y="4592623"/>
              <a:ext cx="598536" cy="274320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tx1">
                  <a:lumMod val="85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1E86220A-EFB9-BAF3-48FB-5824FAB50905}"/>
                </a:ext>
              </a:extLst>
            </p:cNvPr>
            <p:cNvSpPr/>
            <p:nvPr/>
          </p:nvSpPr>
          <p:spPr>
            <a:xfrm>
              <a:off x="9715114" y="3573209"/>
              <a:ext cx="2152073" cy="2467374"/>
            </a:xfrm>
            <a:prstGeom prst="rect">
              <a:avLst/>
            </a:prstGeom>
            <a:noFill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3EEDE003-1680-4985-8691-682F823ED90B}"/>
                </a:ext>
              </a:extLst>
            </p:cNvPr>
            <p:cNvSpPr/>
            <p:nvPr/>
          </p:nvSpPr>
          <p:spPr>
            <a:xfrm>
              <a:off x="9715114" y="3569471"/>
              <a:ext cx="2144186" cy="30921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Customer View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0BD85E0A-F81B-A683-7E26-DDF19587CBDC}"/>
                </a:ext>
              </a:extLst>
            </p:cNvPr>
            <p:cNvSpPr/>
            <p:nvPr/>
          </p:nvSpPr>
          <p:spPr>
            <a:xfrm>
              <a:off x="9809276" y="4985936"/>
              <a:ext cx="1327627" cy="27432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Total Charge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F0802FF0-141A-D565-31CB-65214F70E93C}"/>
                </a:ext>
              </a:extLst>
            </p:cNvPr>
            <p:cNvSpPr/>
            <p:nvPr/>
          </p:nvSpPr>
          <p:spPr>
            <a:xfrm>
              <a:off x="11091262" y="4985936"/>
              <a:ext cx="598536" cy="274320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tx1">
                  <a:lumMod val="85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$1600</a:t>
              </a:r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5A32EC99-F7AC-0C94-12E0-E25705346092}"/>
                </a:ext>
              </a:extLst>
            </p:cNvPr>
            <p:cNvSpPr/>
            <p:nvPr/>
          </p:nvSpPr>
          <p:spPr>
            <a:xfrm>
              <a:off x="9809276" y="5598663"/>
              <a:ext cx="847192" cy="283637"/>
            </a:xfrm>
            <a:prstGeom prst="roundRect">
              <a:avLst/>
            </a:prstGeom>
            <a:solidFill>
              <a:schemeClr val="accent5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Decline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7036601D-69EB-6480-0B1E-0443675DEF10}"/>
                </a:ext>
              </a:extLst>
            </p:cNvPr>
            <p:cNvSpPr/>
            <p:nvPr/>
          </p:nvSpPr>
          <p:spPr>
            <a:xfrm>
              <a:off x="9809276" y="4035625"/>
              <a:ext cx="1982640" cy="274320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tx1">
                  <a:lumMod val="85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HIK 4 Camera System</a:t>
              </a: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A02E2256-729F-4655-CA41-682736285720}"/>
              </a:ext>
            </a:extLst>
          </p:cNvPr>
          <p:cNvGrpSpPr/>
          <p:nvPr/>
        </p:nvGrpSpPr>
        <p:grpSpPr>
          <a:xfrm>
            <a:off x="4928784" y="3354579"/>
            <a:ext cx="2159960" cy="2473568"/>
            <a:chOff x="4956492" y="3567015"/>
            <a:chExt cx="2159960" cy="2473568"/>
          </a:xfrm>
        </p:grpSpPr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2855CD72-5DE1-2AC7-6322-7E8621164D52}"/>
                </a:ext>
              </a:extLst>
            </p:cNvPr>
            <p:cNvSpPr/>
            <p:nvPr/>
          </p:nvSpPr>
          <p:spPr>
            <a:xfrm>
              <a:off x="6235969" y="5598663"/>
              <a:ext cx="786284" cy="283637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Send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A7C05480-8035-17C1-0FA7-D921F6F92FC4}"/>
                </a:ext>
              </a:extLst>
            </p:cNvPr>
            <p:cNvSpPr/>
            <p:nvPr/>
          </p:nvSpPr>
          <p:spPr>
            <a:xfrm>
              <a:off x="5058541" y="4455463"/>
              <a:ext cx="1327627" cy="27432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Estimated Hours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E3179004-C935-D5A7-3BF8-31E9B8AB30BE}"/>
                </a:ext>
              </a:extLst>
            </p:cNvPr>
            <p:cNvSpPr/>
            <p:nvPr/>
          </p:nvSpPr>
          <p:spPr>
            <a:xfrm>
              <a:off x="6442645" y="4455463"/>
              <a:ext cx="598536" cy="274320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tx1">
                  <a:lumMod val="85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E629219D-16FF-9767-C6BB-96784135C9CE}"/>
                </a:ext>
              </a:extLst>
            </p:cNvPr>
            <p:cNvSpPr/>
            <p:nvPr/>
          </p:nvSpPr>
          <p:spPr>
            <a:xfrm>
              <a:off x="4964379" y="3571025"/>
              <a:ext cx="2152073" cy="2469558"/>
            </a:xfrm>
            <a:prstGeom prst="rect">
              <a:avLst/>
            </a:prstGeom>
            <a:noFill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1056E05-E138-459C-2EAE-4CBAC501F0D5}"/>
                </a:ext>
              </a:extLst>
            </p:cNvPr>
            <p:cNvSpPr/>
            <p:nvPr/>
          </p:nvSpPr>
          <p:spPr>
            <a:xfrm>
              <a:off x="4956492" y="3567015"/>
              <a:ext cx="2152073" cy="30921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Agent View</a:t>
              </a: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27F642B3-234B-2089-3EE6-30D206CAF8C4}"/>
                </a:ext>
              </a:extLst>
            </p:cNvPr>
            <p:cNvSpPr/>
            <p:nvPr/>
          </p:nvSpPr>
          <p:spPr>
            <a:xfrm>
              <a:off x="5058541" y="4830577"/>
              <a:ext cx="1327627" cy="27432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Total Charge</a:t>
              </a: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65BA1205-B78B-BD6B-8897-B7966BE73660}"/>
                </a:ext>
              </a:extLst>
            </p:cNvPr>
            <p:cNvSpPr/>
            <p:nvPr/>
          </p:nvSpPr>
          <p:spPr>
            <a:xfrm>
              <a:off x="6442645" y="4822766"/>
              <a:ext cx="598536" cy="274320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tx1">
                  <a:lumMod val="85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$1600</a:t>
              </a:r>
            </a:p>
          </p:txBody>
        </p:sp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89819D2D-2AAD-EBCF-EBB7-AA39E82F9034}"/>
                </a:ext>
              </a:extLst>
            </p:cNvPr>
            <p:cNvSpPr/>
            <p:nvPr/>
          </p:nvSpPr>
          <p:spPr>
            <a:xfrm>
              <a:off x="5039613" y="5598663"/>
              <a:ext cx="847192" cy="283637"/>
            </a:xfrm>
            <a:prstGeom prst="roundRect">
              <a:avLst/>
            </a:prstGeom>
            <a:solidFill>
              <a:schemeClr val="accent5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Cancel</a:t>
              </a: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EEE0FFF6-52D2-E88E-D96D-E1B75C888D58}"/>
                </a:ext>
              </a:extLst>
            </p:cNvPr>
            <p:cNvSpPr/>
            <p:nvPr/>
          </p:nvSpPr>
          <p:spPr>
            <a:xfrm>
              <a:off x="5058541" y="4033440"/>
              <a:ext cx="1982640" cy="274320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tx1">
                  <a:lumMod val="85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HIK 4 Camera System</a:t>
              </a: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832E4BC6-6EB5-56C4-4A83-DCEEFBBC9753}"/>
                </a:ext>
              </a:extLst>
            </p:cNvPr>
            <p:cNvSpPr/>
            <p:nvPr/>
          </p:nvSpPr>
          <p:spPr>
            <a:xfrm>
              <a:off x="5058541" y="5162962"/>
              <a:ext cx="1327627" cy="27432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Commission</a:t>
              </a: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CBBF21BF-FE07-A169-49CA-AA3F9E417EA8}"/>
                </a:ext>
              </a:extLst>
            </p:cNvPr>
            <p:cNvSpPr/>
            <p:nvPr/>
          </p:nvSpPr>
          <p:spPr>
            <a:xfrm>
              <a:off x="6442645" y="5188643"/>
              <a:ext cx="598536" cy="274320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tx1">
                  <a:lumMod val="85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$300</a:t>
              </a:r>
            </a:p>
          </p:txBody>
        </p: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0560A50B-C2A2-CA0F-A150-7AA616B07028}"/>
              </a:ext>
            </a:extLst>
          </p:cNvPr>
          <p:cNvGrpSpPr/>
          <p:nvPr/>
        </p:nvGrpSpPr>
        <p:grpSpPr>
          <a:xfrm>
            <a:off x="7320795" y="3027059"/>
            <a:ext cx="2152073" cy="3131127"/>
            <a:chOff x="7348175" y="3260436"/>
            <a:chExt cx="2152073" cy="3131127"/>
          </a:xfrm>
        </p:grpSpPr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CD3BEC0F-6610-53D8-AE4E-CE1569DBE142}"/>
                </a:ext>
              </a:extLst>
            </p:cNvPr>
            <p:cNvSpPr/>
            <p:nvPr/>
          </p:nvSpPr>
          <p:spPr>
            <a:xfrm>
              <a:off x="8521252" y="6011886"/>
              <a:ext cx="903725" cy="283637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Approve</a:t>
              </a: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6C3FD3F0-D92A-83AE-D4A5-21B152CC6EA1}"/>
                </a:ext>
              </a:extLst>
            </p:cNvPr>
            <p:cNvSpPr/>
            <p:nvPr/>
          </p:nvSpPr>
          <p:spPr>
            <a:xfrm>
              <a:off x="7426092" y="4483797"/>
              <a:ext cx="1327627" cy="27432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tIns="0" rIns="0" bIns="0" rtlCol="0" anchor="ctr"/>
            <a:lstStyle/>
            <a:p>
              <a:r>
                <a:rPr lang="en-US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Estimated Hours</a:t>
              </a: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8DDD0E28-E50D-070B-8A03-F1A9B10CB266}"/>
                </a:ext>
              </a:extLst>
            </p:cNvPr>
            <p:cNvSpPr/>
            <p:nvPr/>
          </p:nvSpPr>
          <p:spPr>
            <a:xfrm>
              <a:off x="8800432" y="4529978"/>
              <a:ext cx="598536" cy="188367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tx1">
                  <a:lumMod val="85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tIns="0" bIns="0"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AAC7A791-9DA5-5508-8323-BCBCC0807E4D}"/>
                </a:ext>
              </a:extLst>
            </p:cNvPr>
            <p:cNvSpPr/>
            <p:nvPr/>
          </p:nvSpPr>
          <p:spPr>
            <a:xfrm>
              <a:off x="7348175" y="3260436"/>
              <a:ext cx="2152073" cy="3131127"/>
            </a:xfrm>
            <a:prstGeom prst="rect">
              <a:avLst/>
            </a:prstGeom>
            <a:noFill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AE634121-86ED-18D0-01C0-42CF9AE482FA}"/>
                </a:ext>
              </a:extLst>
            </p:cNvPr>
            <p:cNvSpPr/>
            <p:nvPr/>
          </p:nvSpPr>
          <p:spPr>
            <a:xfrm>
              <a:off x="7348175" y="3263715"/>
              <a:ext cx="2152073" cy="30921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Manager View</a:t>
              </a: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351899EF-0934-6A70-7E40-9EFC71163946}"/>
                </a:ext>
              </a:extLst>
            </p:cNvPr>
            <p:cNvSpPr/>
            <p:nvPr/>
          </p:nvSpPr>
          <p:spPr>
            <a:xfrm>
              <a:off x="7426092" y="4746664"/>
              <a:ext cx="1327627" cy="19261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tIns="0" rIns="0" bIns="0" rtlCol="0" anchor="ctr"/>
            <a:lstStyle/>
            <a:p>
              <a:r>
                <a:rPr lang="en-US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Total Cost</a:t>
              </a: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98A060D4-E463-0441-CD6A-CF73DAF1A649}"/>
                </a:ext>
              </a:extLst>
            </p:cNvPr>
            <p:cNvSpPr/>
            <p:nvPr/>
          </p:nvSpPr>
          <p:spPr>
            <a:xfrm>
              <a:off x="8800432" y="4773197"/>
              <a:ext cx="598536" cy="188367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tx1">
                  <a:lumMod val="85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tIns="0" bIns="0" rtlCol="0" anchor="ctr"/>
            <a:lstStyle/>
            <a:p>
              <a:pPr algn="ctr"/>
              <a:r>
                <a:rPr lang="en-US" sz="11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$1200</a:t>
              </a:r>
            </a:p>
          </p:txBody>
        </p:sp>
        <p:sp>
          <p:nvSpPr>
            <p:cNvPr id="91" name="Rectangle: Rounded Corners 90">
              <a:extLst>
                <a:ext uri="{FF2B5EF4-FFF2-40B4-BE49-F238E27FC236}">
                  <a16:creationId xmlns:a16="http://schemas.microsoft.com/office/drawing/2014/main" id="{02F96128-CAC4-3418-C237-8742CC136E80}"/>
                </a:ext>
              </a:extLst>
            </p:cNvPr>
            <p:cNvSpPr/>
            <p:nvPr/>
          </p:nvSpPr>
          <p:spPr>
            <a:xfrm>
              <a:off x="7442337" y="6011886"/>
              <a:ext cx="847192" cy="283637"/>
            </a:xfrm>
            <a:prstGeom prst="roundRect">
              <a:avLst/>
            </a:prstGeom>
            <a:solidFill>
              <a:schemeClr val="accent5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Reject</a:t>
              </a: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C6046F00-DC24-8E57-D99A-D1A2F38BB165}"/>
                </a:ext>
              </a:extLst>
            </p:cNvPr>
            <p:cNvSpPr/>
            <p:nvPr/>
          </p:nvSpPr>
          <p:spPr>
            <a:xfrm>
              <a:off x="7442337" y="3951925"/>
              <a:ext cx="1982640" cy="274320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tx1">
                  <a:lumMod val="85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HIK 4 Camera System</a:t>
              </a: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276C7A8E-F8F5-B458-5ABA-5A23ADA0265E}"/>
                </a:ext>
              </a:extLst>
            </p:cNvPr>
            <p:cNvSpPr/>
            <p:nvPr/>
          </p:nvSpPr>
          <p:spPr>
            <a:xfrm>
              <a:off x="7426092" y="5738466"/>
              <a:ext cx="1327627" cy="1851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tIns="0" rIns="0" bIns="0" rtlCol="0" anchor="ctr"/>
            <a:lstStyle/>
            <a:p>
              <a:r>
                <a:rPr lang="en-US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Company Profit</a:t>
              </a: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9C119D09-B3F3-1002-D47B-319A23C982D9}"/>
                </a:ext>
              </a:extLst>
            </p:cNvPr>
            <p:cNvSpPr/>
            <p:nvPr/>
          </p:nvSpPr>
          <p:spPr>
            <a:xfrm>
              <a:off x="8800432" y="5735218"/>
              <a:ext cx="598536" cy="188367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tx1">
                  <a:lumMod val="85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tIns="0" bIns="0" rtlCol="0" anchor="ctr"/>
            <a:lstStyle/>
            <a:p>
              <a:pPr algn="ctr"/>
              <a:r>
                <a:rPr lang="en-US" sz="11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$400</a:t>
              </a: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534E08DD-50F9-20EF-8AA0-13158D0A8DEC}"/>
                </a:ext>
              </a:extLst>
            </p:cNvPr>
            <p:cNvSpPr/>
            <p:nvPr/>
          </p:nvSpPr>
          <p:spPr>
            <a:xfrm>
              <a:off x="7426092" y="4239685"/>
              <a:ext cx="1327627" cy="27432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tIns="0" rIns="0" bIns="0" rtlCol="0" anchor="ctr"/>
            <a:lstStyle/>
            <a:p>
              <a:r>
                <a:rPr lang="en-US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Charge Customer</a:t>
              </a: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AE75B38B-B43E-35D5-927B-777F3D7EE6A2}"/>
                </a:ext>
              </a:extLst>
            </p:cNvPr>
            <p:cNvSpPr/>
            <p:nvPr/>
          </p:nvSpPr>
          <p:spPr>
            <a:xfrm>
              <a:off x="8800432" y="4285866"/>
              <a:ext cx="598536" cy="188367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tx1">
                  <a:lumMod val="85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tIns="0" bIns="0" rtlCol="0" anchor="ctr"/>
            <a:lstStyle/>
            <a:p>
              <a:pPr algn="ctr"/>
              <a:r>
                <a:rPr lang="en-US" sz="11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$1600</a:t>
              </a: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02DB629C-9661-D396-FF7F-C3ED98BD5AC4}"/>
                </a:ext>
              </a:extLst>
            </p:cNvPr>
            <p:cNvSpPr/>
            <p:nvPr/>
          </p:nvSpPr>
          <p:spPr>
            <a:xfrm>
              <a:off x="7636226" y="5011715"/>
              <a:ext cx="1164206" cy="660831"/>
            </a:xfrm>
            <a:prstGeom prst="rect">
              <a:avLst/>
            </a:prstGeom>
            <a:noFill/>
            <a:ln w="9525" cap="flat" cmpd="sng" algn="ctr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402584B7-FD6C-461F-6E34-D1707E7BE9DE}"/>
                </a:ext>
              </a:extLst>
            </p:cNvPr>
            <p:cNvSpPr/>
            <p:nvPr/>
          </p:nvSpPr>
          <p:spPr>
            <a:xfrm>
              <a:off x="7684614" y="5049348"/>
              <a:ext cx="555567" cy="18907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lIns="18288" tIns="0" rIns="18288" bIns="0" rtlCol="0" anchor="ctr"/>
            <a:lstStyle/>
            <a:p>
              <a:r>
                <a:rPr lang="en-US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Labor:</a:t>
              </a: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61D0AD6B-DF30-B675-FC6D-7C1B2754AC51}"/>
                </a:ext>
              </a:extLst>
            </p:cNvPr>
            <p:cNvSpPr/>
            <p:nvPr/>
          </p:nvSpPr>
          <p:spPr>
            <a:xfrm>
              <a:off x="8240181" y="5052343"/>
              <a:ext cx="521425" cy="185119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$300</a:t>
              </a: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AFAB1C43-6929-FBA9-54D5-B50BC279E2AB}"/>
                </a:ext>
              </a:extLst>
            </p:cNvPr>
            <p:cNvSpPr/>
            <p:nvPr/>
          </p:nvSpPr>
          <p:spPr>
            <a:xfrm>
              <a:off x="7679196" y="5256982"/>
              <a:ext cx="555567" cy="15646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lIns="18288" tIns="0" rIns="0" bIns="0" rtlCol="0" anchor="ctr"/>
            <a:lstStyle/>
            <a:p>
              <a:r>
                <a:rPr lang="en-US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Comm:</a:t>
              </a: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3C6A41E6-C3B9-2539-CDAA-65EB37220CE9}"/>
                </a:ext>
              </a:extLst>
            </p:cNvPr>
            <p:cNvSpPr/>
            <p:nvPr/>
          </p:nvSpPr>
          <p:spPr>
            <a:xfrm>
              <a:off x="8242489" y="5259977"/>
              <a:ext cx="521425" cy="185119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$300</a:t>
              </a: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10F964D9-0538-308C-D1B7-1884520113ED}"/>
                </a:ext>
              </a:extLst>
            </p:cNvPr>
            <p:cNvSpPr/>
            <p:nvPr/>
          </p:nvSpPr>
          <p:spPr>
            <a:xfrm>
              <a:off x="7679195" y="5460008"/>
              <a:ext cx="555567" cy="18241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lIns="18288" tIns="0" rIns="0" bIns="0" rtlCol="0" anchor="ctr"/>
            <a:lstStyle/>
            <a:p>
              <a:r>
                <a:rPr lang="en-US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Equip:</a:t>
              </a: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6F241958-3281-FC9C-53A1-8172C76BDECB}"/>
                </a:ext>
              </a:extLst>
            </p:cNvPr>
            <p:cNvSpPr/>
            <p:nvPr/>
          </p:nvSpPr>
          <p:spPr>
            <a:xfrm>
              <a:off x="8242489" y="5462044"/>
              <a:ext cx="521425" cy="185119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$600</a:t>
              </a: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35B3E392-FE1C-7332-6CCB-35229D44E4F9}"/>
                </a:ext>
              </a:extLst>
            </p:cNvPr>
            <p:cNvSpPr/>
            <p:nvPr/>
          </p:nvSpPr>
          <p:spPr>
            <a:xfrm>
              <a:off x="7442337" y="3627781"/>
              <a:ext cx="1992984" cy="274320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tx1">
                  <a:lumMod val="85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1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John Smith</a:t>
              </a: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77470A67-6938-D545-822F-482B6D4C9EFA}"/>
                </a:ext>
              </a:extLst>
            </p:cNvPr>
            <p:cNvSpPr/>
            <p:nvPr/>
          </p:nvSpPr>
          <p:spPr>
            <a:xfrm>
              <a:off x="8663910" y="3679284"/>
              <a:ext cx="736378" cy="182861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tx1">
                  <a:lumMod val="85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0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ID: 1111</a:t>
              </a:r>
            </a:p>
          </p:txBody>
        </p:sp>
      </p:grpSp>
      <p:sp>
        <p:nvSpPr>
          <p:cNvPr id="108" name="Arrow: Notched Right 107">
            <a:extLst>
              <a:ext uri="{FF2B5EF4-FFF2-40B4-BE49-F238E27FC236}">
                <a16:creationId xmlns:a16="http://schemas.microsoft.com/office/drawing/2014/main" id="{5DDC2F45-AF21-5D4F-5FA4-4EBC409B2EE4}"/>
              </a:ext>
            </a:extLst>
          </p:cNvPr>
          <p:cNvSpPr/>
          <p:nvPr/>
        </p:nvSpPr>
        <p:spPr>
          <a:xfrm>
            <a:off x="6902938" y="3403310"/>
            <a:ext cx="379500" cy="228625"/>
          </a:xfrm>
          <a:prstGeom prst="notchedRightArrow">
            <a:avLst/>
          </a:prstGeom>
          <a:gradFill>
            <a:gsLst>
              <a:gs pos="0">
                <a:srgbClr val="ECB12C"/>
              </a:gs>
              <a:gs pos="100000">
                <a:srgbClr val="F6A554"/>
              </a:gs>
            </a:gsLst>
          </a:gradFill>
          <a:ln>
            <a:solidFill>
              <a:srgbClr val="EB92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Arrow: Notched Right 108">
            <a:extLst>
              <a:ext uri="{FF2B5EF4-FFF2-40B4-BE49-F238E27FC236}">
                <a16:creationId xmlns:a16="http://schemas.microsoft.com/office/drawing/2014/main" id="{30F15438-95D0-D853-3876-598FC3F08654}"/>
              </a:ext>
            </a:extLst>
          </p:cNvPr>
          <p:cNvSpPr/>
          <p:nvPr/>
        </p:nvSpPr>
        <p:spPr>
          <a:xfrm>
            <a:off x="9523056" y="3400143"/>
            <a:ext cx="379500" cy="228625"/>
          </a:xfrm>
          <a:prstGeom prst="notchedRightArrow">
            <a:avLst/>
          </a:prstGeom>
          <a:gradFill>
            <a:gsLst>
              <a:gs pos="0">
                <a:srgbClr val="ECB12C"/>
              </a:gs>
              <a:gs pos="100000">
                <a:srgbClr val="F6A554"/>
              </a:gs>
            </a:gsLst>
          </a:gradFill>
          <a:ln>
            <a:solidFill>
              <a:srgbClr val="EB92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Callout: Bent Line 119">
            <a:extLst>
              <a:ext uri="{FF2B5EF4-FFF2-40B4-BE49-F238E27FC236}">
                <a16:creationId xmlns:a16="http://schemas.microsoft.com/office/drawing/2014/main" id="{3D662992-ADB0-BDB8-29BA-77A1D024A767}"/>
              </a:ext>
            </a:extLst>
          </p:cNvPr>
          <p:cNvSpPr/>
          <p:nvPr/>
        </p:nvSpPr>
        <p:spPr>
          <a:xfrm>
            <a:off x="873397" y="315537"/>
            <a:ext cx="2803555" cy="1501486"/>
          </a:xfrm>
          <a:prstGeom prst="borderCallout2">
            <a:avLst>
              <a:gd name="adj1" fmla="val 47955"/>
              <a:gd name="adj2" fmla="val 103611"/>
              <a:gd name="adj3" fmla="val 47346"/>
              <a:gd name="adj4" fmla="val 113813"/>
              <a:gd name="adj5" fmla="val 89153"/>
              <a:gd name="adj6" fmla="val 139184"/>
            </a:avLst>
          </a:prstGeom>
          <a:ln w="12700"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5:</a:t>
            </a:r>
          </a:p>
          <a:p>
            <a:pPr algn="ctr"/>
            <a:r>
              <a:rPr lang="en-US" dirty="0"/>
              <a:t>Calculate and updates the database with the values to populate the views</a:t>
            </a:r>
          </a:p>
        </p:txBody>
      </p:sp>
      <p:sp>
        <p:nvSpPr>
          <p:cNvPr id="121" name="Callout: Bent Line 120">
            <a:extLst>
              <a:ext uri="{FF2B5EF4-FFF2-40B4-BE49-F238E27FC236}">
                <a16:creationId xmlns:a16="http://schemas.microsoft.com/office/drawing/2014/main" id="{59264FBC-5C2A-B51E-FAD9-785BFA4EA194}"/>
              </a:ext>
            </a:extLst>
          </p:cNvPr>
          <p:cNvSpPr/>
          <p:nvPr/>
        </p:nvSpPr>
        <p:spPr>
          <a:xfrm>
            <a:off x="885199" y="2276316"/>
            <a:ext cx="2803555" cy="1501486"/>
          </a:xfrm>
          <a:prstGeom prst="borderCallout2">
            <a:avLst>
              <a:gd name="adj1" fmla="val 58917"/>
              <a:gd name="adj2" fmla="val 102307"/>
              <a:gd name="adj3" fmla="val 58308"/>
              <a:gd name="adj4" fmla="val 111856"/>
              <a:gd name="adj5" fmla="val 100723"/>
              <a:gd name="adj6" fmla="val 137227"/>
            </a:avLst>
          </a:prstGeom>
          <a:ln w="12700"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6:</a:t>
            </a:r>
          </a:p>
          <a:p>
            <a:pPr algn="ctr"/>
            <a:r>
              <a:rPr lang="en-US" dirty="0"/>
              <a:t>Deletes the quote if a manager rejects it or update to approved if approved</a:t>
            </a:r>
          </a:p>
        </p:txBody>
      </p:sp>
      <p:sp>
        <p:nvSpPr>
          <p:cNvPr id="5" name="Callout: Bent Line 4">
            <a:extLst>
              <a:ext uri="{FF2B5EF4-FFF2-40B4-BE49-F238E27FC236}">
                <a16:creationId xmlns:a16="http://schemas.microsoft.com/office/drawing/2014/main" id="{F57C5847-2795-2D93-95AB-A6E4C05092E9}"/>
              </a:ext>
            </a:extLst>
          </p:cNvPr>
          <p:cNvSpPr/>
          <p:nvPr/>
        </p:nvSpPr>
        <p:spPr>
          <a:xfrm>
            <a:off x="884398" y="4307760"/>
            <a:ext cx="2803555" cy="1501486"/>
          </a:xfrm>
          <a:prstGeom prst="borderCallout2">
            <a:avLst>
              <a:gd name="adj1" fmla="val 58917"/>
              <a:gd name="adj2" fmla="val 102307"/>
              <a:gd name="adj3" fmla="val 58308"/>
              <a:gd name="adj4" fmla="val 111856"/>
              <a:gd name="adj5" fmla="val 100723"/>
              <a:gd name="adj6" fmla="val 136249"/>
            </a:avLst>
          </a:prstGeom>
          <a:ln w="12700"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7:</a:t>
            </a:r>
          </a:p>
          <a:p>
            <a:pPr algn="ctr"/>
            <a:r>
              <a:rPr lang="en-US" dirty="0"/>
              <a:t>Updates the project </a:t>
            </a:r>
            <a:r>
              <a:rPr lang="en-US"/>
              <a:t>status  </a:t>
            </a:r>
            <a:r>
              <a:rPr lang="en-US" dirty="0"/>
              <a:t>when the customer accepts or declines the quote</a:t>
            </a:r>
          </a:p>
        </p:txBody>
      </p:sp>
    </p:spTree>
    <p:extLst>
      <p:ext uri="{BB962C8B-B14F-4D97-AF65-F5344CB8AC3E}">
        <p14:creationId xmlns:p14="http://schemas.microsoft.com/office/powerpoint/2010/main" val="1568219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8C831-31E9-9423-85F9-CA07D870B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AFE578-0638-DCE3-3FAB-6B57C4355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51" r="19449"/>
          <a:stretch/>
        </p:blipFill>
        <p:spPr>
          <a:xfrm>
            <a:off x="-10649" y="1"/>
            <a:ext cx="457164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E6434A9-2B6F-4FCB-9F56-BC8044C74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7926" y="201925"/>
            <a:ext cx="3006777" cy="632511"/>
          </a:xfr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US" dirty="0"/>
              <a:t>Print Quote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813DD2-ADE6-2D9C-4A7E-BDA1368C82E8}"/>
              </a:ext>
            </a:extLst>
          </p:cNvPr>
          <p:cNvSpPr/>
          <p:nvPr/>
        </p:nvSpPr>
        <p:spPr>
          <a:xfrm>
            <a:off x="6839712" y="338328"/>
            <a:ext cx="5001768" cy="61904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9D9CFF5-3E13-485D-C4BE-C675241006DC}"/>
              </a:ext>
            </a:extLst>
          </p:cNvPr>
          <p:cNvSpPr/>
          <p:nvPr/>
        </p:nvSpPr>
        <p:spPr>
          <a:xfrm>
            <a:off x="7158599" y="638852"/>
            <a:ext cx="1391075" cy="747087"/>
          </a:xfrm>
          <a:prstGeom prst="round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John Smith</a:t>
            </a:r>
          </a:p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123 Main St</a:t>
            </a:r>
          </a:p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City, ST ZIP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97123C0-E78A-3DE1-E8A9-E0F9D9AF9875}"/>
              </a:ext>
            </a:extLst>
          </p:cNvPr>
          <p:cNvSpPr/>
          <p:nvPr/>
        </p:nvSpPr>
        <p:spPr>
          <a:xfrm>
            <a:off x="7318046" y="2316529"/>
            <a:ext cx="2833400" cy="973802"/>
          </a:xfrm>
          <a:prstGeom prst="round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(2) 4MP Turrets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(1) Panoramic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(1) Doorbell Video Intercom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(1) Recorder 8-channel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079C5C4-8141-216A-C27C-2ADCF6AF6309}"/>
              </a:ext>
            </a:extLst>
          </p:cNvPr>
          <p:cNvSpPr/>
          <p:nvPr/>
        </p:nvSpPr>
        <p:spPr>
          <a:xfrm>
            <a:off x="7318046" y="3711210"/>
            <a:ext cx="2833400" cy="973802"/>
          </a:xfrm>
          <a:prstGeom prst="round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Color Night Vision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2-way voice communication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Line crossing notifications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Remote Access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952CCB6-7A02-ADA6-7F65-53DE54E9C34C}"/>
              </a:ext>
            </a:extLst>
          </p:cNvPr>
          <p:cNvSpPr/>
          <p:nvPr/>
        </p:nvSpPr>
        <p:spPr>
          <a:xfrm>
            <a:off x="7363381" y="5115235"/>
            <a:ext cx="2833400" cy="321125"/>
          </a:xfrm>
          <a:prstGeom prst="round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4-year parts &amp; labor warranty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D24C3F4-3501-F61D-83CC-FCCE3C1025D0}"/>
              </a:ext>
            </a:extLst>
          </p:cNvPr>
          <p:cNvSpPr/>
          <p:nvPr/>
        </p:nvSpPr>
        <p:spPr>
          <a:xfrm>
            <a:off x="7168290" y="1985941"/>
            <a:ext cx="1391075" cy="316285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EQUIPMENT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2392B86-0FD5-85DF-E003-557B1F8888AD}"/>
              </a:ext>
            </a:extLst>
          </p:cNvPr>
          <p:cNvSpPr/>
          <p:nvPr/>
        </p:nvSpPr>
        <p:spPr>
          <a:xfrm>
            <a:off x="7165333" y="3383690"/>
            <a:ext cx="1391075" cy="316285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FEATURES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ADBE13C-3D7A-C63A-A77C-F81C687D08F1}"/>
              </a:ext>
            </a:extLst>
          </p:cNvPr>
          <p:cNvSpPr/>
          <p:nvPr/>
        </p:nvSpPr>
        <p:spPr>
          <a:xfrm>
            <a:off x="7168290" y="4781438"/>
            <a:ext cx="1391075" cy="316285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WARRANTY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5596355-C1FA-D2FC-EDED-6E0D5BFEDF9B}"/>
              </a:ext>
            </a:extLst>
          </p:cNvPr>
          <p:cNvSpPr/>
          <p:nvPr/>
        </p:nvSpPr>
        <p:spPr>
          <a:xfrm>
            <a:off x="7158599" y="5567500"/>
            <a:ext cx="1391075" cy="316285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COST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1EC705D-65CA-4ED5-C702-C8D7537A1ECE}"/>
              </a:ext>
            </a:extLst>
          </p:cNvPr>
          <p:cNvSpPr/>
          <p:nvPr/>
        </p:nvSpPr>
        <p:spPr>
          <a:xfrm>
            <a:off x="7363379" y="5829067"/>
            <a:ext cx="2833400" cy="321125"/>
          </a:xfrm>
          <a:prstGeom prst="round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$1,600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EF1E2FA-9721-38E0-C7AF-8FF40970C157}"/>
              </a:ext>
            </a:extLst>
          </p:cNvPr>
          <p:cNvSpPr/>
          <p:nvPr/>
        </p:nvSpPr>
        <p:spPr>
          <a:xfrm>
            <a:off x="10151446" y="623241"/>
            <a:ext cx="1391075" cy="321125"/>
          </a:xfrm>
          <a:prstGeom prst="round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Quote Date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071715C-1178-BC4A-ADE7-A42A0CF0E063}"/>
              </a:ext>
            </a:extLst>
          </p:cNvPr>
          <p:cNvSpPr/>
          <p:nvPr/>
        </p:nvSpPr>
        <p:spPr>
          <a:xfrm>
            <a:off x="8291468" y="1567067"/>
            <a:ext cx="2116548" cy="321125"/>
          </a:xfrm>
          <a:prstGeom prst="round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HIK 4 Camera System</a:t>
            </a:r>
          </a:p>
        </p:txBody>
      </p:sp>
      <p:sp>
        <p:nvSpPr>
          <p:cNvPr id="20" name="Callout: Bent Line 19">
            <a:extLst>
              <a:ext uri="{FF2B5EF4-FFF2-40B4-BE49-F238E27FC236}">
                <a16:creationId xmlns:a16="http://schemas.microsoft.com/office/drawing/2014/main" id="{C80AA668-6573-804A-0EE2-B998DE4EDC46}"/>
              </a:ext>
            </a:extLst>
          </p:cNvPr>
          <p:cNvSpPr/>
          <p:nvPr/>
        </p:nvSpPr>
        <p:spPr>
          <a:xfrm>
            <a:off x="873397" y="1163622"/>
            <a:ext cx="2803555" cy="1501486"/>
          </a:xfrm>
          <a:prstGeom prst="borderCallout2">
            <a:avLst>
              <a:gd name="adj1" fmla="val 12633"/>
              <a:gd name="adj2" fmla="val 102959"/>
              <a:gd name="adj3" fmla="val 12633"/>
              <a:gd name="adj4" fmla="val 114139"/>
              <a:gd name="adj5" fmla="val 81236"/>
              <a:gd name="adj6" fmla="val 162014"/>
            </a:avLst>
          </a:prstGeom>
          <a:solidFill>
            <a:srgbClr val="7030A0"/>
          </a:solidFill>
          <a:ln w="12700">
            <a:solidFill>
              <a:srgbClr val="9933FF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8:</a:t>
            </a:r>
          </a:p>
          <a:p>
            <a:pPr algn="ctr"/>
            <a:r>
              <a:rPr lang="en-US" dirty="0"/>
              <a:t>Provide a list of equipment with concatenated quantity for the specified quote</a:t>
            </a:r>
          </a:p>
        </p:txBody>
      </p:sp>
      <p:sp>
        <p:nvSpPr>
          <p:cNvPr id="21" name="Callout: Bent Line 20">
            <a:extLst>
              <a:ext uri="{FF2B5EF4-FFF2-40B4-BE49-F238E27FC236}">
                <a16:creationId xmlns:a16="http://schemas.microsoft.com/office/drawing/2014/main" id="{85AEB012-7AF5-C4AD-84DB-1FA489835FED}"/>
              </a:ext>
            </a:extLst>
          </p:cNvPr>
          <p:cNvSpPr/>
          <p:nvPr/>
        </p:nvSpPr>
        <p:spPr>
          <a:xfrm>
            <a:off x="873397" y="2989185"/>
            <a:ext cx="2803555" cy="1501486"/>
          </a:xfrm>
          <a:prstGeom prst="borderCallout2">
            <a:avLst>
              <a:gd name="adj1" fmla="val 12633"/>
              <a:gd name="adj2" fmla="val 102959"/>
              <a:gd name="adj3" fmla="val 12633"/>
              <a:gd name="adj4" fmla="val 114139"/>
              <a:gd name="adj5" fmla="val 81236"/>
              <a:gd name="adj6" fmla="val 162014"/>
            </a:avLst>
          </a:prstGeom>
          <a:solidFill>
            <a:srgbClr val="7030A0"/>
          </a:solidFill>
          <a:ln w="12700">
            <a:solidFill>
              <a:srgbClr val="9933FF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9:</a:t>
            </a:r>
          </a:p>
          <a:p>
            <a:pPr algn="ctr"/>
            <a:r>
              <a:rPr lang="en-US" dirty="0"/>
              <a:t>Provide a list of chosen features based on hardware selections without any duplicates</a:t>
            </a:r>
          </a:p>
        </p:txBody>
      </p:sp>
      <p:sp>
        <p:nvSpPr>
          <p:cNvPr id="22" name="Callout: Bent Line 21">
            <a:extLst>
              <a:ext uri="{FF2B5EF4-FFF2-40B4-BE49-F238E27FC236}">
                <a16:creationId xmlns:a16="http://schemas.microsoft.com/office/drawing/2014/main" id="{A1CC82E1-F34F-23B5-121C-802BE162CD11}"/>
              </a:ext>
            </a:extLst>
          </p:cNvPr>
          <p:cNvSpPr/>
          <p:nvPr/>
        </p:nvSpPr>
        <p:spPr>
          <a:xfrm>
            <a:off x="873397" y="4866765"/>
            <a:ext cx="2803555" cy="1662050"/>
          </a:xfrm>
          <a:prstGeom prst="borderCallout2">
            <a:avLst>
              <a:gd name="adj1" fmla="val 12633"/>
              <a:gd name="adj2" fmla="val 102959"/>
              <a:gd name="adj3" fmla="val 12633"/>
              <a:gd name="adj4" fmla="val 114139"/>
              <a:gd name="adj5" fmla="val 81236"/>
              <a:gd name="adj6" fmla="val 162014"/>
            </a:avLst>
          </a:prstGeom>
          <a:solidFill>
            <a:srgbClr val="7030A0"/>
          </a:solidFill>
          <a:ln w="12700">
            <a:solidFill>
              <a:srgbClr val="9933FF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10:</a:t>
            </a:r>
          </a:p>
          <a:p>
            <a:pPr algn="ctr"/>
            <a:r>
              <a:rPr lang="en-US" dirty="0"/>
              <a:t>Provide a single row of data that displays customer info, quote date, quote title, warranty, and total cost</a:t>
            </a:r>
          </a:p>
        </p:txBody>
      </p:sp>
    </p:spTree>
    <p:extLst>
      <p:ext uri="{BB962C8B-B14F-4D97-AF65-F5344CB8AC3E}">
        <p14:creationId xmlns:p14="http://schemas.microsoft.com/office/powerpoint/2010/main" val="4155704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474610-3377-36CB-31AB-E7536DDD2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" name="Freeform 5">
            <a:extLst>
              <a:ext uri="{FF2B5EF4-FFF2-40B4-BE49-F238E27FC236}">
                <a16:creationId xmlns:a16="http://schemas.microsoft.com/office/drawing/2014/main" id="{5319533A-337D-3540-6845-82D4F4C5CA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:a16="http://schemas.microsoft.com/office/drawing/2014/main" xmlns:p14="http://schemas.microsoft.com/office/powerpoint/2010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C08CC3-B05F-61C2-7F16-5677BE794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" y="0"/>
            <a:ext cx="12192001" cy="685799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3D42D5AB-D164-6BF3-9BE0-D338369A29A2}"/>
              </a:ext>
            </a:extLst>
          </p:cNvPr>
          <p:cNvSpPr txBox="1">
            <a:spLocks/>
          </p:cNvSpPr>
          <p:nvPr/>
        </p:nvSpPr>
        <p:spPr>
          <a:xfrm>
            <a:off x="4900708" y="254716"/>
            <a:ext cx="2390578" cy="72536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ERD</a:t>
            </a:r>
          </a:p>
        </p:txBody>
      </p:sp>
      <p:pic>
        <p:nvPicPr>
          <p:cNvPr id="3" name="Picture 2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9172EAA7-F7A2-B723-7C55-5678E70892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397" y="1333119"/>
            <a:ext cx="8077200" cy="5010150"/>
          </a:xfrm>
          <a:prstGeom prst="rect">
            <a:avLst/>
          </a:prstGeom>
          <a:ln w="7620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591535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2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3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4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Quadratic collection</Template>
  <TotalTime>1328</TotalTime>
  <Words>413</Words>
  <Application>Microsoft Office PowerPoint</Application>
  <PresentationFormat>Widescreen</PresentationFormat>
  <Paragraphs>137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Goudy Old Style</vt:lpstr>
      <vt:lpstr>Wingdings 2</vt:lpstr>
      <vt:lpstr>SlateVTI</vt:lpstr>
      <vt:lpstr>Customer Quote Application with MySQL</vt:lpstr>
      <vt:lpstr>Add a Customer </vt:lpstr>
      <vt:lpstr>Build a Quote  </vt:lpstr>
      <vt:lpstr>Calculate Quote</vt:lpstr>
      <vt:lpstr>Print Quote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Deana Briggs</dc:creator>
  <cp:lastModifiedBy>Deana Briggs</cp:lastModifiedBy>
  <cp:revision>7</cp:revision>
  <dcterms:created xsi:type="dcterms:W3CDTF">2025-03-26T01:50:37Z</dcterms:created>
  <dcterms:modified xsi:type="dcterms:W3CDTF">2025-04-01T03:43:39Z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